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FAQs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3D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Infraestructura</c:v>
                  </c:pt>
                  <c:pt idx="1">
                    <c:v>Horarios</c:v>
                  </c:pt>
                  <c:pt idx="2">
                    <c:v>Procesos Académicos</c:v>
                  </c:pt>
                  <c:pt idx="3">
                    <c:v>Soporte y Cuentas</c:v>
                  </c:pt>
                  <c:pt idx="4">
                    <c:v>Vida Estudiantil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8</c:v>
                </c:pt>
                <c:pt idx="2">
                  <c:v>12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3D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b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Resolución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3D6B"/>
              </a:solidFill>
              <a:effectLst/>
            </c:spPr>
          </c:dPt>
          <c:dPt>
            <c:idx val="1"/>
            <c:bubble3D val="0"/>
            <c:spPr>
              <a:solidFill>
                <a:srgbClr val="E08A2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Resueltas automáticamente</c:v>
                </c:pt>
                <c:pt idx="1">
                  <c:v>No resueltas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44</c:v>
                </c:pt>
                <c:pt idx="1">
                  <c:v>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días/tardes. Presentamos el proyecto final del Agente Virtual de Orientación Universitaria, desarrollado durante los tres parciales. Cada integrante defenderá el componente que desarrolló.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del primer avance: el problema real de orientación. La solución final atiende por navegación de opciones y texto libre, con métricas verificables.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Único motor compartido: web, Telegram y n8n responden idéntico. Mejora de estabilidad: la web ya no depende del túnel ngrok; los menús se construyen desde el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pipeline es el validado en el 2° avance. Defendemos la elección técnica: determinismo, explicabilidad y cero alucinaciones, ideal para información institucional.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Demostrar aquí con una captura o en vivo: respuesta directa, botón paso a paso, chips de relacionadas y botones de feedback, tanto en web como en Telegram.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FAQs nuevas: auditorio, fotocopiado, horarios de biblioteca y laboratorios, reposición, calificaciones, índice académico, clases virtuales, constancias de pago y las 5 de Vida Estudiantil.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Igual que en el 2° avance, la validación produjo una lección: cómo diagnosticar y corregir colisiones de palabras clave. Eso ahora es parte del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honesta: la tasa se calcula sobre consultas de contenido (48), excluyendo transferencias explícitas que son función prevista. El panel /metricas se muestra en vivo al cierre de 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los integrantes participan: cada quien ejecuta y explica el paso del componente que desarrolló. Si algo falla en vivo, demo_sesiones.py reproduce todo en consola.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clave para la defensa: el diseño determinista es en sí una decisión ética — confiabilidad sobre naturalidad en un dominio institucional.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 directamente al criterio de 1% de innovación/mejora: cada fila es una mejora concreta y verificable sobre el 2° avance.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espacio de preguntas. Tener abiertos: el chat web, el bot de Telegram, /metricas y 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3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Virtual Guía para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Orientación Universitaria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Tercer Parcial · Inteligencia Artificial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Madian Getzabel Villatoro  ·  Alex Fael Chávez  ·  Brayan Hazael Matute
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 Leonardi Portillo  ·  José Luis Domínguez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UTH · Julio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y la solución final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duda del estudiante nuevo a un asistente medible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828800"/>
          </a:xfrm>
          <a:prstGeom prst="roundRect">
            <a:avLst>
              <a:gd name="adj" fmla="val 3500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399032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" y="1691640"/>
            <a:ext cx="3675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de nuevo ingreso llegan con dudas sobre aulas, horarios, trámites y servicios; Registro se satura en matrícula y la información está dispersa.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31920" cy="1828800"/>
          </a:xfrm>
          <a:prstGeom prst="roundRect">
            <a:avLst>
              <a:gd name="adj" fmla="val 3500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37176" y="1399032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37176" y="1691640"/>
            <a:ext cx="3675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conversacional que responde consultas frecuentes por menú de opciones o texto libre, explica paso a paso, sugiere preguntas relacionadas y deriva a un humano cuando corresponde.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4290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55701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94360" y="42336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FAQs activas en la base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0" y="34290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355701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651760" y="42336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(nueva: Vida Estudiantil)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34290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55701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709160" y="42336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canales: web, Telegram y n8n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75120" y="34290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557016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766560" y="42336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en 30 pruebas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7594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Virtual UTH · Proyecto Final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final del sistema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motor y una sola base de conocimiento para todos los canales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59595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1671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4505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móvil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123444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12984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468880" y="15819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/metricas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214884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22128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68880" y="24963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Keyboards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23160" y="306324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31272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MySQL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68880" y="34107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opcional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201168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163D6B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20756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(IA)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0" y="235915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 básico + sistema experto · explicaciones · feedback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78040" y="137160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143560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223760" y="17190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FAQs · JSON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78040" y="274320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E08A2E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280720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223760" y="30906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· 👍/👎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74520" y="2487168"/>
            <a:ext cx="548640" cy="-886968"/>
          </a:xfrm>
          <a:prstGeom prst="line">
            <a:avLst/>
          </a:prstGeom>
          <a:noFill/>
          <a:ln w="17780">
            <a:solidFill>
              <a:srgbClr val="8A8F98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874520" y="2487168"/>
            <a:ext cx="548640" cy="27432"/>
          </a:xfrm>
          <a:prstGeom prst="line">
            <a:avLst/>
          </a:prstGeom>
          <a:noFill/>
          <a:ln w="17780">
            <a:solidFill>
              <a:srgbClr val="8A8F98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874520" y="2487168"/>
            <a:ext cx="548640" cy="941832"/>
          </a:xfrm>
          <a:prstGeom prst="line">
            <a:avLst/>
          </a:prstGeom>
          <a:noFill/>
          <a:ln w="17780">
            <a:solidFill>
              <a:srgbClr val="8A8F98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4114800" y="1600200"/>
            <a:ext cx="594360" cy="777240"/>
          </a:xfrm>
          <a:prstGeom prst="line">
            <a:avLst/>
          </a:prstGeom>
          <a:noFill/>
          <a:ln w="17780">
            <a:solidFill>
              <a:srgbClr val="8A8F98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4114800" y="2514600"/>
            <a:ext cx="594360" cy="0"/>
          </a:xfrm>
          <a:prstGeom prst="line">
            <a:avLst/>
          </a:prstGeom>
          <a:noFill/>
          <a:ln w="17780">
            <a:solidFill>
              <a:srgbClr val="8A8F98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4114800" y="3429000"/>
            <a:ext cx="594360" cy="-777240"/>
          </a:xfrm>
          <a:prstGeom prst="line">
            <a:avLst/>
          </a:prstGeom>
          <a:noFill/>
          <a:ln w="17780">
            <a:solidFill>
              <a:srgbClr val="8A8F98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6629400" y="2331720"/>
            <a:ext cx="548640" cy="-530352"/>
          </a:xfrm>
          <a:prstGeom prst="line">
            <a:avLst/>
          </a:prstGeom>
          <a:noFill/>
          <a:ln w="17780">
            <a:solidFill>
              <a:srgbClr val="8A8F98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6629400" y="2651760"/>
            <a:ext cx="548640" cy="521208"/>
          </a:xfrm>
          <a:prstGeom prst="line">
            <a:avLst/>
          </a:prstGeom>
          <a:noFill/>
          <a:ln w="17780">
            <a:solidFill>
              <a:srgbClr val="8A8F98"/>
            </a:solidFill>
            <a:prstDash val="solid"/>
            <a:tailEnd type="arrow"/>
          </a:ln>
        </p:spPr>
      </p:sp>
      <p:sp>
        <p:nvSpPr>
          <p:cNvPr id="33" name="Text 31"/>
          <p:cNvSpPr/>
          <p:nvPr/>
        </p:nvSpPr>
        <p:spPr>
          <a:xfrm>
            <a:off x="502920" y="4160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local por defecto (sin ngrok) · Menús generados dinámicamente desde la base · Sincronización MySQL en 2 comandos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7594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Virtual UTH · Proyecto Final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de IA: clasificación de intención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 básico + sistema experto basado en reglas (determinista y auditable)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447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Normalización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76072" y="175564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minúsculas, sin tildes ni signos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23160" y="1847088"/>
            <a:ext cx="228600" cy="0"/>
          </a:xfrm>
          <a:prstGeom prst="line">
            <a:avLst/>
          </a:prstGeom>
          <a:noFill/>
          <a:ln w="20320">
            <a:solidFill>
              <a:srgbClr val="8A8F98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651760" y="1371600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4447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Tokenización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24912" y="175564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eliminación de stop words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847088"/>
            <a:ext cx="228600" cy="0"/>
          </a:xfrm>
          <a:prstGeom prst="line">
            <a:avLst/>
          </a:prstGeom>
          <a:noFill/>
          <a:ln w="20320">
            <a:solidFill>
              <a:srgbClr val="8A8F98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800600" y="1371600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4447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Puntaje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73752" y="175564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exacta · +3 frase completa · +1 prefijo ≥5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20840" y="1847088"/>
            <a:ext cx="228600" cy="0"/>
          </a:xfrm>
          <a:prstGeom prst="line">
            <a:avLst/>
          </a:prstGeom>
          <a:noFill/>
          <a:ln w="20320">
            <a:solidFill>
              <a:srgbClr val="8A8F98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6949440" y="1371600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14447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Decisión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22592" y="175564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mínimo: 3 puntos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697480"/>
            <a:ext cx="3931920" cy="1691640"/>
          </a:xfrm>
          <a:prstGeom prst="roundRect">
            <a:avLst>
              <a:gd name="adj" fmla="val 3784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" y="2770632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derivación a humano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" y="3063240"/>
            <a:ext cx="3675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Petición explícita: «asesor», «humano», «soporte»…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Bucle de error: 3 intentos no reconocidos → transferencia automática (ahora registrada como transferencia_bucle).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Siempre visibles los canales de atención presencial.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697480"/>
            <a:ext cx="3931920" cy="1691640"/>
          </a:xfrm>
          <a:prstGeom prst="roundRect">
            <a:avLst>
              <a:gd name="adj" fmla="val 3784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37176" y="2770632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reglas y no un modelo generativo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37176" y="3063240"/>
            <a:ext cx="3675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explicable (cada decisión registra puntaje y FAQ), 100% auditable, y sin riesgo de inventar información institucional: solo responde contenido curado por la universidad.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7594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Virtual UTH · Proyecto Final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de opciones y respuestas explicativas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nuevo del proyecto final en la experiencia del estudiante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399032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Paso a paso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" y="1691640"/>
            <a:ext cx="3675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FAQ incluye ahora una explicación en 3–5 pasos accionables (ej. el trámite completo de reposición de examen), desplegable con un botón.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37176" y="1399032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Preguntas relacionadas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37176" y="1691640"/>
            <a:ext cx="3675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cada respuesta se sugieren 2–3 preguntas afines que guían al estudiante nuevo hacia lo que probablemente necesitará después.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926080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2999232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👍👎 Retroalimentación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" y="3291840"/>
            <a:ext cx="3675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valora cada respuesta; las valoraciones alimentan el índice de satisfacción y señalan qué respuestas mejorar.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2926080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7176" y="2999232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Menús dinámicos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37176" y="3291840"/>
            <a:ext cx="3675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y preguntas se generan desde la base de conocimiento: agregar contenido no requiere tocar el código de las interfaces.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594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Virtual UTH · Proyecto Final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conocimiento ampliada y organizada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31 a 45 FAQs · nueva categoría «Vida Estudiantil» · 2 campos nuevos por registro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71600"/>
          <a:ext cx="4937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4173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97880" y="154533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→ 45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989320" y="22219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frecuentes activas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897880" y="3017520"/>
            <a:ext cx="2743200" cy="1463040"/>
          </a:xfrm>
          <a:prstGeom prst="roundRect">
            <a:avLst>
              <a:gd name="adj" fmla="val 4375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25896" y="309067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nuevos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25896" y="338328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explicacion: pasos numerados de la respuesta.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relacionadas: 2–3 FAQs afines sugeridas.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MySQL/n8n con exportar_kb_mysql.py.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47594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Virtual UTH · Proyecto Final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usuarios simulados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Batería ampliada de 14 → 30 casos: regresión + FAQs nuevas + desambiguación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4533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22219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aciertos en la batería final (100%)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54533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22219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regresión del 2° avance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54533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63640" y="22219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colisiones detectadas y corregidas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063240"/>
            <a:ext cx="8138160" cy="1325880"/>
          </a:xfrm>
          <a:prstGeom prst="roundRect">
            <a:avLst>
              <a:gd name="adj" fmla="val 4828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3136392"/>
            <a:ext cx="7882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 de mejora documentada (93.3% → 100%)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" y="3429000"/>
            <a:ext cx="7882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integrar las FAQs nuevas, dos consultas empataban con FAQs vecinas («laboratorios de cómputo» vs. horario de laboratorios; «auditorio» vs. biblioteca por el término compartido «queda»). Se reforzaron las palabras clave discriminantes de las FAQs de ubicación y la batería recuperó el 100%. El procedimiento quedó en el manual de actualización.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594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Virtual UTH · Proyecto Final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desempeño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Calculadas desde los logs de auditoría y feedback · corrida completa: 50 consultas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371600"/>
          <a:ext cx="3200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977640" y="141732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977640" y="154533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069080" y="2221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resolución automática (44/48)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46520" y="141732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15453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537960" y="22219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 del estudiante (16/18 👍)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77640" y="301752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77640" y="314553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4069080" y="38221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derivación a humano (explícita + bucle)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46520" y="301752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31455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537960" y="38221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/metricas recalcula al instante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2920" y="47594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Virtual UTH · Proyecto Final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vivo: atención a un estudiante nuevo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Guión de 5–7 minutos · respaldo: demo_sesiones.py (6 sesiones simuladas)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9903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y menú dinámico de 5 categorías (python app_web.py).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929384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9019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de opciones: Vida Estudiantil → deportes → paso a paso y relacionadas.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43230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libre sin tildes: «no presente el examen, como pido reposicion» → ACA10 + 👍.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9626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ambigua → reformulación; (opcional) 3er fallo → derivación automática.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49300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explícita: «quiero hablar con un asesor».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05079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0233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motor en Telegram + cierre con el panel de métricas en vivo.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47594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Virtual UTH · Proyecto Final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y uso responsable de la IA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requerida en los lineamientos de entrega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51760" cy="1463040"/>
          </a:xfrm>
          <a:prstGeom prst="roundRect">
            <a:avLst>
              <a:gd name="adj" fmla="val 4375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39903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" y="1691640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personales; sesiones anónimas; logs locales. Recomendación: aviso de privacidad y política de retención.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651760" cy="1463040"/>
          </a:xfrm>
          <a:prstGeom prst="roundRect">
            <a:avLst>
              <a:gd name="adj" fmla="val 4375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9856" y="139903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19856" y="1691640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curada a mano: riesgo de cobertura desigual. La métrica por categoría y las consultas no reconocidas detectan vacíos.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1325880"/>
            <a:ext cx="2560320" cy="1463040"/>
          </a:xfrm>
          <a:prstGeom prst="roundRect">
            <a:avLst>
              <a:gd name="adj" fmla="val 4375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139903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08776" y="169164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Obsolescencia de la información → manual + responsable de revisión. Sobreconfianza → vía humana siempre visible.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3977640" cy="1463040"/>
          </a:xfrm>
          <a:prstGeom prst="roundRect">
            <a:avLst>
              <a:gd name="adj" fmla="val 4375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3090672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" y="3383280"/>
            <a:ext cx="3721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comprende sinónimos fuera de las claves; solo español; estado local en memoria. A cambio: no genera texto → no puede «alucinar» información.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3977640" cy="1463040"/>
          </a:xfrm>
          <a:prstGeom prst="roundRect">
            <a:avLst>
              <a:gd name="adj" fmla="val 4375"/>
            </a:avLst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3090672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responsable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91456" y="3383280"/>
            <a:ext cx="3721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identifica siempre como asistente virtual; decisiones auditables (puntaje + FAQ); librerías citadas; sin datasets de terceros.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7594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Virtual UTH · Proyecto Final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respecto a los avances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y aplicabilidad del sistema final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77640" cy="475488"/>
          </a:xfrm>
          <a:prstGeom prst="rect">
            <a:avLst/>
          </a:prstGeom>
          <a:solidFill>
            <a:srgbClr val="163D6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325880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Avance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80560" y="1325880"/>
            <a:ext cx="4160520" cy="475488"/>
          </a:xfrm>
          <a:prstGeom prst="rect">
            <a:avLst/>
          </a:prstGeom>
          <a:solidFill>
            <a:srgbClr val="163D6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0288" y="1325880"/>
            <a:ext cx="3941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837944"/>
            <a:ext cx="3977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837944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FAQs · 4 categorías · respuesta única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837944"/>
            <a:ext cx="41605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837944"/>
            <a:ext cx="3941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FAQs · 5 categorías · respuesta + pasos + relacionadas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350008"/>
            <a:ext cx="3977640" cy="475488"/>
          </a:xfrm>
          <a:prstGeom prst="rect">
            <a:avLst/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350008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Menús escritos en el código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2350008"/>
            <a:ext cx="4160520" cy="475488"/>
          </a:xfrm>
          <a:prstGeom prst="rect">
            <a:avLst/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2350008"/>
            <a:ext cx="3941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Menús dinámicos desde la base de conocimiento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62072"/>
            <a:ext cx="3977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862072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sin explotación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2862072"/>
            <a:ext cx="41605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2862072"/>
            <a:ext cx="3941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métricas + gráficas + panel en vivo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374136"/>
            <a:ext cx="3977640" cy="475488"/>
          </a:xfrm>
          <a:prstGeom prst="rect">
            <a:avLst/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3374136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medición de satisfacción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3374136"/>
            <a:ext cx="4160520" cy="475488"/>
          </a:xfrm>
          <a:prstGeom prst="rect">
            <a:avLst/>
          </a:prstGeom>
          <a:solidFill>
            <a:srgbClr val="EEF3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3374136"/>
            <a:ext cx="3941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👍/👎 e índice de satisfacción (88.9%)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886200"/>
            <a:ext cx="3977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3886200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dependiente de ngrok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3886200"/>
            <a:ext cx="41605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3886200"/>
            <a:ext cx="3941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local por defecto · n8n opcional sincronizado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Aplicable de inmediato: sin nube ni licencias, mantenible por personal no técnico, y reutilizable en otros servicios de atención de la institución.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47594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Virtual UTH · Proyecto Final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3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completo, estable y medible: </a:t>
            </a:r>
            <a:pPr indent="0" marL="0">
              <a:buNone/>
            </a:pPr>
            <a:r>
              <a:rPr lang="en-US" sz="150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en la batería de 30 pruebas, 91.7% de resolución automática y 88.9% de satisfacción.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explicable y sin alucinaciones: </a:t>
            </a:r>
            <a:pPr indent="0" marL="0">
              <a:buNone/>
            </a:pPr>
            <a:r>
              <a:rPr lang="en-US" sz="150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experto sobre base curada; cada decisión queda auditada.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Sostenible más allá del curso: </a:t>
            </a:r>
            <a:pPr indent="0" marL="0">
              <a:buNone/>
            </a:pPr>
            <a:r>
              <a:rPr lang="en-US" sz="150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actualización para personal no técnico y sincronización de canales en dos comandos.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pilotear </a:t>
            </a:r>
            <a:pPr indent="0" marL="0">
              <a:buNone/>
            </a:pPr>
            <a:r>
              <a:rPr lang="en-US" sz="150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estudiantes reales de nuevo ingreso.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github.com/Brayan-Matute/Agente-virtual-guía-para-orientación-universitaria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 · Preguntas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Equipo Agente Virtual UTH</dc:creator>
  <cp:lastModifiedBy>Equipo Agente Virtual UTH</cp:lastModifiedBy>
  <cp:revision>1</cp:revision>
  <dcterms:created xsi:type="dcterms:W3CDTF">2026-07-30T18:14:17Z</dcterms:created>
  <dcterms:modified xsi:type="dcterms:W3CDTF">2026-07-30T18:14:17Z</dcterms:modified>
</cp:coreProperties>
</file>